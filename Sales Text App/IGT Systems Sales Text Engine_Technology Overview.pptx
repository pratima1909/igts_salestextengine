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1d2014a05344d6" /><Relationship Type="http://schemas.openxmlformats.org/officeDocument/2006/relationships/extended-properties" Target="/docProps/app.xml" Id="R53e046ad33da4698" /><Relationship Type="http://schemas.openxmlformats.org/officeDocument/2006/relationships/officeDocument" Target="/ppt/presentation.xml" Id="Rd2f86da941574751" /></Relationships>
</file>

<file path=ppt/presentation.xml><?xml version="1.0" encoding="utf-8"?>
<p:presentation xmlns:p="http://schemas.openxmlformats.org/presentationml/2006/main">
  <p:sldMasterIdLst>
    <p:sldMasterId xmlns:r="http://schemas.openxmlformats.org/officeDocument/2006/relationships" id="2147483648" r:id="R5b2364db06e749f1"/>
  </p:sldMasterIdLst>
  <p:notesMasterIdLst>
    <p:notesMasterId xmlns:r="http://schemas.openxmlformats.org/officeDocument/2006/relationships" r:id="Rc359d8adad464a18"/>
  </p:notesMasterIdLst>
  <p:sldIdLst>
    <p:sldId xmlns:r="http://schemas.openxmlformats.org/officeDocument/2006/relationships" id="256" r:id="R46e35e48efbc4691"/>
    <p:sldId xmlns:r="http://schemas.openxmlformats.org/officeDocument/2006/relationships" id="257" r:id="Rfdbb31acff144e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1a14e6dc614e7e" /><Relationship Type="http://schemas.openxmlformats.org/officeDocument/2006/relationships/slideMaster" Target="/ppt/slideMasters/slideMaster1.xml" Id="R5b2364db06e749f1" /><Relationship Type="http://schemas.openxmlformats.org/officeDocument/2006/relationships/notesMaster" Target="/ppt/notesMasters/notesMaster1.xml" Id="Rc359d8adad464a18" /><Relationship Type="http://schemas.openxmlformats.org/officeDocument/2006/relationships/presProps" Target="/ppt/presProps.xml" Id="Rcff31cbd9bbd45ab" /><Relationship Type="http://schemas.openxmlformats.org/officeDocument/2006/relationships/tableStyles" Target="/ppt/tableStyles.xml" Id="Rc63ad8ae0b614128" /><Relationship Type="http://schemas.openxmlformats.org/officeDocument/2006/relationships/slide" Target="/ppt/slides/slide1.xml" Id="R46e35e48efbc4691" /><Relationship Type="http://schemas.openxmlformats.org/officeDocument/2006/relationships/slide" Target="/ppt/slides/slide2.xml" Id="Rfdbb31acff144e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3450e39f6b49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e124607d944fd8" /><Relationship Type="http://schemas.openxmlformats.org/officeDocument/2006/relationships/notesMaster" Target="/ppt/notesMasters/notesMaster1.xml" Id="R84d7650519a945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e914e0a8094803" /><Relationship Type="http://schemas.openxmlformats.org/officeDocument/2006/relationships/notesMaster" Target="/ppt/notesMasters/notesMaster1.xml" Id="R6f09916b58f642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implementation is deliberately lightweight. Search, matching and guided drafting happen in the browser. The Node.js server only serves static files and is optional because index.html can be opened directly.</a:t>
            </a:r>
          </a:p>
          <a:p xmlns:a="http://schemas.openxmlformats.org/drawingml/2006/main">
            <a:r>
              <a:t/>
            </a:r>
          </a:p>
          <a:p xmlns:a="http://schemas.openxmlformats.org/drawingml/2006/main">
            <a:r>
              <a:t>[Sources]</a:t>
            </a:r>
          </a:p>
          <a:p xmlns:a="http://schemas.openxmlformats.org/drawingml/2006/main">
            <a:r>
              <a:t>- Local project files: README.md, package.json, server.mjs, app.js, index.html and public/data/items-data.js (accessed August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right-hand sequence describes a target path, not capabilities already implemented. The current guided editor remains local and deterministic. A future LLM can be evaluated separately once data access, approved services, human review and claims governance are defined.</a:t>
            </a:r>
          </a:p>
          <a:p xmlns:a="http://schemas.openxmlformats.org/drawingml/2006/main">
            <a:r>
              <a:t/>
            </a:r>
          </a:p>
          <a:p xmlns:a="http://schemas.openxmlformats.org/drawingml/2006/main">
            <a:r>
              <a:t>[Sources]</a:t>
            </a:r>
          </a:p>
          <a:p xmlns:a="http://schemas.openxmlformats.org/drawingml/2006/main">
            <a:r>
              <a:t>- Local IGT Systems Sales Text Engine project files (accessed August 2026).</a:t>
            </a:r>
          </a:p>
          <a:p xmlns:a="http://schemas.openxmlformats.org/drawingml/2006/main">
            <a:r>
              <a:t>- User-provided scope: insourced use; Windchill; Philips Product Library; quoting tools.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ee27a6893a47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82bb7832454766" /><Relationship Type="http://schemas.openxmlformats.org/officeDocument/2006/relationships/slideLayout" Target="/ppt/slideLayouts/slideLayout1.xml" Id="Rb5c6c47186414c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c6c47186414c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6c90c302154818" /><Relationship Type="http://schemas.openxmlformats.org/officeDocument/2006/relationships/notesSlide" Target="/ppt/notesSlides/notesSlide1.xml" Id="Rd492622259404e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fb041f6b2e4612" /><Relationship Type="http://schemas.openxmlformats.org/officeDocument/2006/relationships/notesSlide" Target="/ppt/notesSlides/notesSlide2.xml" Id="Rd2abd5cb7d1546a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title-accent-1">
            <a:extLst xmlns:a="http://schemas.openxmlformats.org/drawingml/2006/main">
              <a:ext uri="{FF2B5EF4-FFF2-40B4-BE49-F238E27FC236}">
                <a16:creationId xmlns:a16="http://schemas.microsoft.com/office/drawing/2014/main" id="{C8398CAA-7D88-4EDF-9028-3034C176B897}"/>
              </a:ext>
            </a:extLst>
          </p:cNvPr>
          <p:cNvSpPr>
            <a:spLocks xmlns:a="http://schemas.openxmlformats.org/drawingml/2006/main" noGrp="1"/>
          </p:cNvSpPr>
          <p:nvPr/>
        </p:nvSpPr>
        <p:spPr>
          <a:xfrm xmlns:a="http://schemas.openxmlformats.org/drawingml/2006/main">
            <a:off x="533400" y="400050"/>
            <a:ext cx="76200" cy="647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itle-1">
            <a:extLst xmlns:a="http://schemas.openxmlformats.org/drawingml/2006/main">
              <a:ext uri="{FF2B5EF4-FFF2-40B4-BE49-F238E27FC236}">
                <a16:creationId xmlns:a16="http://schemas.microsoft.com/office/drawing/2014/main" id="{224DE4E4-C37A-4459-8C05-F4FE757E56F4}"/>
              </a:ext>
            </a:extLst>
          </p:cNvPr>
          <p:cNvSpPr>
            <a:spLocks xmlns:a="http://schemas.openxmlformats.org/drawingml/2006/main" noGrp="1"/>
          </p:cNvSpPr>
          <p:nvPr/>
        </p:nvSpPr>
        <p:spPr>
          <a:xfrm xmlns:a="http://schemas.openxmlformats.org/drawingml/2006/main">
            <a:off x="800100" y="3429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defRPr>
            </a:pPr>
            <a:r>
              <a:rPr sz="3000" b="1">
                <a:solidFill>
                  <a:srgbClr val="111111"/>
                </a:solidFill>
              </a:rPr>
              <a:t>The engine runs locally—simple, fast and self-contained</a:t>
            </a:r>
          </a:p>
        </p:txBody>
      </p:sp>
      <p:sp>
        <p:nvSpPr>
          <p:cNvPr id="3" name="subtitle-1">
            <a:extLst xmlns:a="http://schemas.openxmlformats.org/drawingml/2006/main">
              <a:ext uri="{FF2B5EF4-FFF2-40B4-BE49-F238E27FC236}">
                <a16:creationId xmlns:a16="http://schemas.microsoft.com/office/drawing/2014/main" id="{C898B6CB-6EF5-440F-A76C-998F64C66400}"/>
              </a:ext>
            </a:extLst>
          </p:cNvPr>
          <p:cNvSpPr>
            <a:spLocks xmlns:a="http://schemas.openxmlformats.org/drawingml/2006/main" noGrp="1"/>
          </p:cNvSpPr>
          <p:nvPr/>
        </p:nvSpPr>
        <p:spPr>
          <a:xfrm xmlns:a="http://schemas.openxmlformats.org/drawingml/2006/main">
            <a:off x="800100" y="914400"/>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F6670"/>
                </a:solidFill>
              </a:defRPr>
            </a:pPr>
            <a:r>
              <a:rPr sz="1350" b="0">
                <a:solidFill>
                  <a:srgbClr val="5F6670"/>
                </a:solidFill>
              </a:rPr>
              <a:t>A browser-first workflow searches existing sales text and produces an editable draft without an external AI service.</a:t>
            </a:r>
          </a:p>
        </p:txBody>
      </p:sp>
      <p:cxnSp>
        <p:nvCxnSpPr>
          <p:cNvPr id="38" name="architecture-backbone"/>
          <p:cNvCxnSpPr/>
          <p:nvPr/>
        </p:nvCxnSpPr>
        <p:spPr>
          <a:xfrm xmlns:a="http://schemas.openxmlformats.org/drawingml/2006/main">
            <a:off x="1085850" y="2724150"/>
            <a:ext cx="9620250" cy="953"/>
          </a:xfrm>
          <a:prstGeom xmlns:a="http://schemas.openxmlformats.org/drawingml/2006/main" prst="straightConnector1">
            <a:avLst/>
          </a:prstGeom>
          <a:ln xmlns:a="http://schemas.openxmlformats.org/drawingml/2006/main" w="28575">
            <a:solidFill>
              <a:srgbClr val="B8BCC4"/>
            </a:solidFill>
            <a:prstDash val="solid"/>
          </a:ln>
        </p:spPr>
      </p:cxnSp>
      <p:cxnSp>
        <p:nvCxnSpPr>
          <p:cNvPr id="39" name="support-rule"/>
          <p:cNvCxnSpPr/>
          <p:nvPr/>
        </p:nvCxnSpPr>
        <p:spPr>
          <a:xfrm xmlns:a="http://schemas.openxmlformats.org/drawingml/2006/main">
            <a:off x="533400" y="5534025"/>
            <a:ext cx="11125200" cy="953"/>
          </a:xfrm>
          <a:prstGeom xmlns:a="http://schemas.openxmlformats.org/drawingml/2006/main" prst="straightConnector1">
            <a:avLst/>
          </a:prstGeom>
          <a:ln xmlns:a="http://schemas.openxmlformats.org/drawingml/2006/main" w="9525">
            <a:solidFill>
              <a:srgbClr val="B8BCC4"/>
            </a:solidFill>
            <a:prstDash val="solid"/>
          </a:ln>
        </p:spPr>
      </p:cxnSp>
      <p:sp>
        <p:nvSpPr>
          <p:cNvPr id="6" name="stage-1">
            <a:extLst xmlns:a="http://schemas.openxmlformats.org/drawingml/2006/main">
              <a:ext uri="{FF2B5EF4-FFF2-40B4-BE49-F238E27FC236}">
                <a16:creationId xmlns:a16="http://schemas.microsoft.com/office/drawing/2014/main" id="{97AD85D6-B421-423E-96E1-10C949C5D6D9}"/>
              </a:ext>
            </a:extLst>
          </p:cNvPr>
          <p:cNvSpPr>
            <a:spLocks xmlns:a="http://schemas.openxmlformats.org/drawingml/2006/main" noGrp="1"/>
          </p:cNvSpPr>
          <p:nvPr/>
        </p:nvSpPr>
        <p:spPr>
          <a:xfrm xmlns:a="http://schemas.openxmlformats.org/drawingml/2006/main">
            <a:off x="533400" y="2038350"/>
            <a:ext cx="2381250" cy="1200150"/>
          </a:xfrm>
          <a:prstGeom xmlns:a="http://schemas.openxmlformats.org/drawingml/2006/main" prst="roundRect">
            <a:avLst>
              <a:gd name="adj" fmla="val 6349"/>
            </a:avLst>
          </a:prstGeom>
          <a:solidFill xmlns:a="http://schemas.openxmlformats.org/drawingml/2006/main">
            <a:srgbClr val="F1F3F5"/>
          </a:solidFill>
          <a:ln xmlns:a="http://schemas.openxmlformats.org/drawingml/2006/main" w="0">
            <a:noFill/>
            <a:prstDash val="solid"/>
          </a:ln>
        </p:spPr>
      </p:sp>
      <p:sp>
        <p:nvSpPr>
          <p:cNvPr id="7" name="stage-top-1">
            <a:extLst xmlns:a="http://schemas.openxmlformats.org/drawingml/2006/main">
              <a:ext uri="{FF2B5EF4-FFF2-40B4-BE49-F238E27FC236}">
                <a16:creationId xmlns:a16="http://schemas.microsoft.com/office/drawing/2014/main" id="{63E85D0D-02A0-4E58-83D7-2002F64E84F9}"/>
              </a:ext>
            </a:extLst>
          </p:cNvPr>
          <p:cNvSpPr>
            <a:spLocks xmlns:a="http://schemas.openxmlformats.org/drawingml/2006/main" noGrp="1"/>
          </p:cNvSpPr>
          <p:nvPr/>
        </p:nvSpPr>
        <p:spPr>
          <a:xfrm xmlns:a="http://schemas.openxmlformats.org/drawingml/2006/main">
            <a:off x="533400" y="2038350"/>
            <a:ext cx="238125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stage-step-1">
            <a:extLst xmlns:a="http://schemas.openxmlformats.org/drawingml/2006/main">
              <a:ext uri="{FF2B5EF4-FFF2-40B4-BE49-F238E27FC236}">
                <a16:creationId xmlns:a16="http://schemas.microsoft.com/office/drawing/2014/main" id="{3F3FB975-2C93-4059-8B09-FA48DE647457}"/>
              </a:ext>
            </a:extLst>
          </p:cNvPr>
          <p:cNvSpPr>
            <a:spLocks xmlns:a="http://schemas.openxmlformats.org/drawingml/2006/main" noGrp="1"/>
          </p:cNvSpPr>
          <p:nvPr/>
        </p:nvSpPr>
        <p:spPr>
          <a:xfrm xmlns:a="http://schemas.openxmlformats.org/drawingml/2006/main">
            <a:off x="704850" y="22383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01</a:t>
            </a:r>
          </a:p>
        </p:txBody>
      </p:sp>
      <p:sp>
        <p:nvSpPr>
          <p:cNvPr id="9" name="stage-label-1">
            <a:extLst xmlns:a="http://schemas.openxmlformats.org/drawingml/2006/main">
              <a:ext uri="{FF2B5EF4-FFF2-40B4-BE49-F238E27FC236}">
                <a16:creationId xmlns:a16="http://schemas.microsoft.com/office/drawing/2014/main" id="{097CB44B-E839-4B82-A559-3E1E09D65F6A}"/>
              </a:ext>
            </a:extLst>
          </p:cNvPr>
          <p:cNvSpPr>
            <a:spLocks xmlns:a="http://schemas.openxmlformats.org/drawingml/2006/main" noGrp="1"/>
          </p:cNvSpPr>
          <p:nvPr/>
        </p:nvSpPr>
        <p:spPr>
          <a:xfrm xmlns:a="http://schemas.openxmlformats.org/drawingml/2006/main">
            <a:off x="1200150" y="224790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F6670"/>
                </a:solidFill>
              </a:defRPr>
            </a:pPr>
            <a:r>
              <a:rPr sz="975" b="1">
                <a:solidFill>
                  <a:srgbClr val="5F6670"/>
                </a:solidFill>
              </a:rPr>
              <a:t>REQUEST</a:t>
            </a:r>
          </a:p>
        </p:txBody>
      </p:sp>
      <p:sp>
        <p:nvSpPr>
          <p:cNvPr id="10" name="stage-title-1">
            <a:extLst xmlns:a="http://schemas.openxmlformats.org/drawingml/2006/main">
              <a:ext uri="{FF2B5EF4-FFF2-40B4-BE49-F238E27FC236}">
                <a16:creationId xmlns:a16="http://schemas.microsoft.com/office/drawing/2014/main" id="{64E26986-60AB-493E-ACC8-A5655FBAAD9E}"/>
              </a:ext>
            </a:extLst>
          </p:cNvPr>
          <p:cNvSpPr>
            <a:spLocks xmlns:a="http://schemas.openxmlformats.org/drawingml/2006/main" noGrp="1"/>
          </p:cNvSpPr>
          <p:nvPr/>
        </p:nvSpPr>
        <p:spPr>
          <a:xfrm xmlns:a="http://schemas.openxmlformats.org/drawingml/2006/main">
            <a:off x="704850" y="2609850"/>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Keywords + facts</a:t>
            </a:r>
          </a:p>
        </p:txBody>
      </p:sp>
      <p:sp>
        <p:nvSpPr>
          <p:cNvPr id="11" name="stage-body-1">
            <a:extLst xmlns:a="http://schemas.openxmlformats.org/drawingml/2006/main">
              <a:ext uri="{FF2B5EF4-FFF2-40B4-BE49-F238E27FC236}">
                <a16:creationId xmlns:a16="http://schemas.microsoft.com/office/drawing/2014/main" id="{5E89F2F4-FC65-4B0E-B27F-F53CECC4A975}"/>
              </a:ext>
            </a:extLst>
          </p:cNvPr>
          <p:cNvSpPr>
            <a:spLocks xmlns:a="http://schemas.openxmlformats.org/drawingml/2006/main" noGrp="1"/>
          </p:cNvSpPr>
          <p:nvPr/>
        </p:nvSpPr>
        <p:spPr>
          <a:xfrm xmlns:a="http://schemas.openxmlformats.org/drawingml/2006/main">
            <a:off x="533400" y="3562350"/>
            <a:ext cx="2381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11111"/>
                </a:solidFill>
              </a:defRPr>
            </a:pPr>
            <a:r>
              <a:rPr sz="1275" b="0">
                <a:solidFill>
                  <a:srgbClr val="111111"/>
                </a:solidFill>
              </a:rPr>
              <a:t>The requestor enters the item name, keywords and approved product facts.</a:t>
            </a:r>
          </a:p>
        </p:txBody>
      </p:sp>
      <p:sp>
        <p:nvSpPr>
          <p:cNvPr id="12" name="stage-2">
            <a:extLst xmlns:a="http://schemas.openxmlformats.org/drawingml/2006/main">
              <a:ext uri="{FF2B5EF4-FFF2-40B4-BE49-F238E27FC236}">
                <a16:creationId xmlns:a16="http://schemas.microsoft.com/office/drawing/2014/main" id="{6C896607-84A4-433D-A526-1FB5D6F7A6FF}"/>
              </a:ext>
            </a:extLst>
          </p:cNvPr>
          <p:cNvSpPr>
            <a:spLocks xmlns:a="http://schemas.openxmlformats.org/drawingml/2006/main" noGrp="1"/>
          </p:cNvSpPr>
          <p:nvPr/>
        </p:nvSpPr>
        <p:spPr>
          <a:xfrm xmlns:a="http://schemas.openxmlformats.org/drawingml/2006/main">
            <a:off x="3381375" y="2038350"/>
            <a:ext cx="2381250" cy="1200150"/>
          </a:xfrm>
          <a:prstGeom xmlns:a="http://schemas.openxmlformats.org/drawingml/2006/main" prst="roundRect">
            <a:avLst>
              <a:gd name="adj" fmla="val 6349"/>
            </a:avLst>
          </a:prstGeom>
          <a:solidFill xmlns:a="http://schemas.openxmlformats.org/drawingml/2006/main">
            <a:srgbClr val="F1F3F5"/>
          </a:solidFill>
          <a:ln xmlns:a="http://schemas.openxmlformats.org/drawingml/2006/main" w="0">
            <a:noFill/>
            <a:prstDash val="solid"/>
          </a:ln>
        </p:spPr>
      </p:sp>
      <p:sp>
        <p:nvSpPr>
          <p:cNvPr id="13" name="stage-top-2">
            <a:extLst xmlns:a="http://schemas.openxmlformats.org/drawingml/2006/main">
              <a:ext uri="{FF2B5EF4-FFF2-40B4-BE49-F238E27FC236}">
                <a16:creationId xmlns:a16="http://schemas.microsoft.com/office/drawing/2014/main" id="{03846DDB-BDE3-4DE1-A32F-0395F93E4B1F}"/>
              </a:ext>
            </a:extLst>
          </p:cNvPr>
          <p:cNvSpPr>
            <a:spLocks xmlns:a="http://schemas.openxmlformats.org/drawingml/2006/main" noGrp="1"/>
          </p:cNvSpPr>
          <p:nvPr/>
        </p:nvSpPr>
        <p:spPr>
          <a:xfrm xmlns:a="http://schemas.openxmlformats.org/drawingml/2006/main">
            <a:off x="3381375" y="2038350"/>
            <a:ext cx="238125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stage-step-2">
            <a:extLst xmlns:a="http://schemas.openxmlformats.org/drawingml/2006/main">
              <a:ext uri="{FF2B5EF4-FFF2-40B4-BE49-F238E27FC236}">
                <a16:creationId xmlns:a16="http://schemas.microsoft.com/office/drawing/2014/main" id="{08B888CB-7817-45E4-BD16-9B7D87246B15}"/>
              </a:ext>
            </a:extLst>
          </p:cNvPr>
          <p:cNvSpPr>
            <a:spLocks xmlns:a="http://schemas.openxmlformats.org/drawingml/2006/main" noGrp="1"/>
          </p:cNvSpPr>
          <p:nvPr/>
        </p:nvSpPr>
        <p:spPr>
          <a:xfrm xmlns:a="http://schemas.openxmlformats.org/drawingml/2006/main">
            <a:off x="3552825" y="22383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02</a:t>
            </a:r>
          </a:p>
        </p:txBody>
      </p:sp>
      <p:sp>
        <p:nvSpPr>
          <p:cNvPr id="15" name="stage-label-2">
            <a:extLst xmlns:a="http://schemas.openxmlformats.org/drawingml/2006/main">
              <a:ext uri="{FF2B5EF4-FFF2-40B4-BE49-F238E27FC236}">
                <a16:creationId xmlns:a16="http://schemas.microsoft.com/office/drawing/2014/main" id="{ACFC2873-3F3C-42D4-9737-75ED01FB7E20}"/>
              </a:ext>
            </a:extLst>
          </p:cNvPr>
          <p:cNvSpPr>
            <a:spLocks xmlns:a="http://schemas.openxmlformats.org/drawingml/2006/main" noGrp="1"/>
          </p:cNvSpPr>
          <p:nvPr/>
        </p:nvSpPr>
        <p:spPr>
          <a:xfrm xmlns:a="http://schemas.openxmlformats.org/drawingml/2006/main">
            <a:off x="4048125" y="224790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F6670"/>
                </a:solidFill>
              </a:defRPr>
            </a:pPr>
            <a:r>
              <a:rPr sz="975" b="1">
                <a:solidFill>
                  <a:srgbClr val="5F6670"/>
                </a:solidFill>
              </a:rPr>
              <a:t>BROWSER APP</a:t>
            </a:r>
          </a:p>
        </p:txBody>
      </p:sp>
      <p:sp>
        <p:nvSpPr>
          <p:cNvPr id="16" name="stage-title-2">
            <a:extLst xmlns:a="http://schemas.openxmlformats.org/drawingml/2006/main">
              <a:ext uri="{FF2B5EF4-FFF2-40B4-BE49-F238E27FC236}">
                <a16:creationId xmlns:a16="http://schemas.microsoft.com/office/drawing/2014/main" id="{70B9D735-F247-4F04-BC1F-67F1D3CADD6D}"/>
              </a:ext>
            </a:extLst>
          </p:cNvPr>
          <p:cNvSpPr>
            <a:spLocks xmlns:a="http://schemas.openxmlformats.org/drawingml/2006/main" noGrp="1"/>
          </p:cNvSpPr>
          <p:nvPr/>
        </p:nvSpPr>
        <p:spPr>
          <a:xfrm xmlns:a="http://schemas.openxmlformats.org/drawingml/2006/main">
            <a:off x="3552825" y="2609850"/>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Search + score</a:t>
            </a:r>
          </a:p>
        </p:txBody>
      </p:sp>
      <p:sp>
        <p:nvSpPr>
          <p:cNvPr id="17" name="stage-body-2">
            <a:extLst xmlns:a="http://schemas.openxmlformats.org/drawingml/2006/main">
              <a:ext uri="{FF2B5EF4-FFF2-40B4-BE49-F238E27FC236}">
                <a16:creationId xmlns:a16="http://schemas.microsoft.com/office/drawing/2014/main" id="{A68E3865-AC5C-4124-B14F-C58500A23EE1}"/>
              </a:ext>
            </a:extLst>
          </p:cNvPr>
          <p:cNvSpPr>
            <a:spLocks xmlns:a="http://schemas.openxmlformats.org/drawingml/2006/main" noGrp="1"/>
          </p:cNvSpPr>
          <p:nvPr/>
        </p:nvSpPr>
        <p:spPr>
          <a:xfrm xmlns:a="http://schemas.openxmlformats.org/drawingml/2006/main">
            <a:off x="3381375" y="3562350"/>
            <a:ext cx="2381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11111"/>
                </a:solidFill>
              </a:defRPr>
            </a:pPr>
            <a:r>
              <a:rPr sz="1275" b="0">
                <a:solidFill>
                  <a:srgbClr val="111111"/>
                </a:solidFill>
              </a:rPr>
              <a:t>HTML, CSS and vanilla JavaScript match terms and rank relevant records locally.</a:t>
            </a:r>
          </a:p>
        </p:txBody>
      </p:sp>
      <p:sp>
        <p:nvSpPr>
          <p:cNvPr id="18" name="stage-3">
            <a:extLst xmlns:a="http://schemas.openxmlformats.org/drawingml/2006/main">
              <a:ext uri="{FF2B5EF4-FFF2-40B4-BE49-F238E27FC236}">
                <a16:creationId xmlns:a16="http://schemas.microsoft.com/office/drawing/2014/main" id="{CCFA37F1-56EA-49C1-8F32-9C9D3DD2E46F}"/>
              </a:ext>
            </a:extLst>
          </p:cNvPr>
          <p:cNvSpPr>
            <a:spLocks xmlns:a="http://schemas.openxmlformats.org/drawingml/2006/main" noGrp="1"/>
          </p:cNvSpPr>
          <p:nvPr/>
        </p:nvSpPr>
        <p:spPr>
          <a:xfrm xmlns:a="http://schemas.openxmlformats.org/drawingml/2006/main">
            <a:off x="6229350" y="2038350"/>
            <a:ext cx="2381250" cy="1200150"/>
          </a:xfrm>
          <a:prstGeom xmlns:a="http://schemas.openxmlformats.org/drawingml/2006/main" prst="roundRect">
            <a:avLst>
              <a:gd name="adj" fmla="val 6349"/>
            </a:avLst>
          </a:prstGeom>
          <a:solidFill xmlns:a="http://schemas.openxmlformats.org/drawingml/2006/main">
            <a:srgbClr val="EAF6FC"/>
          </a:solidFill>
          <a:ln xmlns:a="http://schemas.openxmlformats.org/drawingml/2006/main" w="0">
            <a:noFill/>
            <a:prstDash val="solid"/>
          </a:ln>
        </p:spPr>
      </p:sp>
      <p:sp>
        <p:nvSpPr>
          <p:cNvPr id="19" name="stage-top-3">
            <a:extLst xmlns:a="http://schemas.openxmlformats.org/drawingml/2006/main">
              <a:ext uri="{FF2B5EF4-FFF2-40B4-BE49-F238E27FC236}">
                <a16:creationId xmlns:a16="http://schemas.microsoft.com/office/drawing/2014/main" id="{969AF7F9-2518-4B7D-8D80-AB7D12AC7274}"/>
              </a:ext>
            </a:extLst>
          </p:cNvPr>
          <p:cNvSpPr>
            <a:spLocks xmlns:a="http://schemas.openxmlformats.org/drawingml/2006/main" noGrp="1"/>
          </p:cNvSpPr>
          <p:nvPr/>
        </p:nvSpPr>
        <p:spPr>
          <a:xfrm xmlns:a="http://schemas.openxmlformats.org/drawingml/2006/main">
            <a:off x="6229350" y="2038350"/>
            <a:ext cx="2381250" cy="762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0" name="stage-step-3">
            <a:extLst xmlns:a="http://schemas.openxmlformats.org/drawingml/2006/main">
              <a:ext uri="{FF2B5EF4-FFF2-40B4-BE49-F238E27FC236}">
                <a16:creationId xmlns:a16="http://schemas.microsoft.com/office/drawing/2014/main" id="{762E58D9-5452-4294-9F49-5C535C8665D2}"/>
              </a:ext>
            </a:extLst>
          </p:cNvPr>
          <p:cNvSpPr>
            <a:spLocks xmlns:a="http://schemas.openxmlformats.org/drawingml/2006/main" noGrp="1"/>
          </p:cNvSpPr>
          <p:nvPr/>
        </p:nvSpPr>
        <p:spPr>
          <a:xfrm xmlns:a="http://schemas.openxmlformats.org/drawingml/2006/main">
            <a:off x="6400800" y="22383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03</a:t>
            </a:r>
          </a:p>
        </p:txBody>
      </p:sp>
      <p:sp>
        <p:nvSpPr>
          <p:cNvPr id="21" name="stage-label-3">
            <a:extLst xmlns:a="http://schemas.openxmlformats.org/drawingml/2006/main">
              <a:ext uri="{FF2B5EF4-FFF2-40B4-BE49-F238E27FC236}">
                <a16:creationId xmlns:a16="http://schemas.microsoft.com/office/drawing/2014/main" id="{27A9557C-DD6F-405A-A849-3F95EB7D9508}"/>
              </a:ext>
            </a:extLst>
          </p:cNvPr>
          <p:cNvSpPr>
            <a:spLocks xmlns:a="http://schemas.openxmlformats.org/drawingml/2006/main" noGrp="1"/>
          </p:cNvSpPr>
          <p:nvPr/>
        </p:nvSpPr>
        <p:spPr>
          <a:xfrm xmlns:a="http://schemas.openxmlformats.org/drawingml/2006/main">
            <a:off x="6896100" y="224790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F6670"/>
                </a:solidFill>
              </a:defRPr>
            </a:pPr>
            <a:r>
              <a:rPr sz="975" b="1">
                <a:solidFill>
                  <a:srgbClr val="5F6670"/>
                </a:solidFill>
              </a:rPr>
              <a:t>CATALOGUE</a:t>
            </a:r>
          </a:p>
        </p:txBody>
      </p:sp>
      <p:sp>
        <p:nvSpPr>
          <p:cNvPr id="22" name="stage-title-3">
            <a:extLst xmlns:a="http://schemas.openxmlformats.org/drawingml/2006/main">
              <a:ext uri="{FF2B5EF4-FFF2-40B4-BE49-F238E27FC236}">
                <a16:creationId xmlns:a16="http://schemas.microsoft.com/office/drawing/2014/main" id="{422B8E51-1814-4A81-9099-3DCDCC46269B}"/>
              </a:ext>
            </a:extLst>
          </p:cNvPr>
          <p:cNvSpPr>
            <a:spLocks xmlns:a="http://schemas.openxmlformats.org/drawingml/2006/main" noGrp="1"/>
          </p:cNvSpPr>
          <p:nvPr/>
        </p:nvSpPr>
        <p:spPr>
          <a:xfrm xmlns:a="http://schemas.openxmlformats.org/drawingml/2006/main">
            <a:off x="6400800" y="2609850"/>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3,778 examples</a:t>
            </a:r>
          </a:p>
        </p:txBody>
      </p:sp>
      <p:sp>
        <p:nvSpPr>
          <p:cNvPr id="23" name="stage-body-3">
            <a:extLst xmlns:a="http://schemas.openxmlformats.org/drawingml/2006/main">
              <a:ext uri="{FF2B5EF4-FFF2-40B4-BE49-F238E27FC236}">
                <a16:creationId xmlns:a16="http://schemas.microsoft.com/office/drawing/2014/main" id="{9A6BC2DC-3B67-414C-BE49-F80A5B783520}"/>
              </a:ext>
            </a:extLst>
          </p:cNvPr>
          <p:cNvSpPr>
            <a:spLocks xmlns:a="http://schemas.openxmlformats.org/drawingml/2006/main" noGrp="1"/>
          </p:cNvSpPr>
          <p:nvPr/>
        </p:nvSpPr>
        <p:spPr>
          <a:xfrm xmlns:a="http://schemas.openxmlformats.org/drawingml/2006/main">
            <a:off x="6229350" y="3562350"/>
            <a:ext cx="2381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11111"/>
                </a:solidFill>
              </a:defRPr>
            </a:pPr>
            <a:r>
              <a:rPr sz="1275" b="0">
                <a:solidFill>
                  <a:srgbClr val="111111"/>
                </a:solidFill>
              </a:rPr>
              <a:t>Excel data is packaged as local JS/JSON; the writer retrieves up to five similar texts.</a:t>
            </a:r>
          </a:p>
        </p:txBody>
      </p:sp>
      <p:sp>
        <p:nvSpPr>
          <p:cNvPr id="24" name="stage-4">
            <a:extLst xmlns:a="http://schemas.openxmlformats.org/drawingml/2006/main">
              <a:ext uri="{FF2B5EF4-FFF2-40B4-BE49-F238E27FC236}">
                <a16:creationId xmlns:a16="http://schemas.microsoft.com/office/drawing/2014/main" id="{CE7BE44C-927A-441B-9641-A5F28844C975}"/>
              </a:ext>
            </a:extLst>
          </p:cNvPr>
          <p:cNvSpPr>
            <a:spLocks xmlns:a="http://schemas.openxmlformats.org/drawingml/2006/main" noGrp="1"/>
          </p:cNvSpPr>
          <p:nvPr/>
        </p:nvSpPr>
        <p:spPr>
          <a:xfrm xmlns:a="http://schemas.openxmlformats.org/drawingml/2006/main">
            <a:off x="9077325" y="2038350"/>
            <a:ext cx="2381250" cy="1200150"/>
          </a:xfrm>
          <a:prstGeom xmlns:a="http://schemas.openxmlformats.org/drawingml/2006/main" prst="roundRect">
            <a:avLst>
              <a:gd name="adj" fmla="val 6349"/>
            </a:avLst>
          </a:prstGeom>
          <a:solidFill xmlns:a="http://schemas.openxmlformats.org/drawingml/2006/main">
            <a:srgbClr val="F1F3F5"/>
          </a:solidFill>
          <a:ln xmlns:a="http://schemas.openxmlformats.org/drawingml/2006/main" w="0">
            <a:noFill/>
            <a:prstDash val="solid"/>
          </a:ln>
        </p:spPr>
      </p:sp>
      <p:sp>
        <p:nvSpPr>
          <p:cNvPr id="25" name="stage-top-4">
            <a:extLst xmlns:a="http://schemas.openxmlformats.org/drawingml/2006/main">
              <a:ext uri="{FF2B5EF4-FFF2-40B4-BE49-F238E27FC236}">
                <a16:creationId xmlns:a16="http://schemas.microsoft.com/office/drawing/2014/main" id="{F9BC034C-8C2E-4ABF-8B51-6E4DAB4F4DF4}"/>
              </a:ext>
            </a:extLst>
          </p:cNvPr>
          <p:cNvSpPr>
            <a:spLocks xmlns:a="http://schemas.openxmlformats.org/drawingml/2006/main" noGrp="1"/>
          </p:cNvSpPr>
          <p:nvPr/>
        </p:nvSpPr>
        <p:spPr>
          <a:xfrm xmlns:a="http://schemas.openxmlformats.org/drawingml/2006/main">
            <a:off x="9077325" y="2038350"/>
            <a:ext cx="238125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stage-step-4">
            <a:extLst xmlns:a="http://schemas.openxmlformats.org/drawingml/2006/main">
              <a:ext uri="{FF2B5EF4-FFF2-40B4-BE49-F238E27FC236}">
                <a16:creationId xmlns:a16="http://schemas.microsoft.com/office/drawing/2014/main" id="{3A1A89C9-93C3-4261-9501-5067A101ED26}"/>
              </a:ext>
            </a:extLst>
          </p:cNvPr>
          <p:cNvSpPr>
            <a:spLocks xmlns:a="http://schemas.openxmlformats.org/drawingml/2006/main" noGrp="1"/>
          </p:cNvSpPr>
          <p:nvPr/>
        </p:nvSpPr>
        <p:spPr>
          <a:xfrm xmlns:a="http://schemas.openxmlformats.org/drawingml/2006/main">
            <a:off x="9248775" y="22383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04</a:t>
            </a:r>
          </a:p>
        </p:txBody>
      </p:sp>
      <p:sp>
        <p:nvSpPr>
          <p:cNvPr id="27" name="stage-label-4">
            <a:extLst xmlns:a="http://schemas.openxmlformats.org/drawingml/2006/main">
              <a:ext uri="{FF2B5EF4-FFF2-40B4-BE49-F238E27FC236}">
                <a16:creationId xmlns:a16="http://schemas.microsoft.com/office/drawing/2014/main" id="{71C5929A-1F86-4145-B58E-8B936B53D832}"/>
              </a:ext>
            </a:extLst>
          </p:cNvPr>
          <p:cNvSpPr>
            <a:spLocks xmlns:a="http://schemas.openxmlformats.org/drawingml/2006/main" noGrp="1"/>
          </p:cNvSpPr>
          <p:nvPr/>
        </p:nvSpPr>
        <p:spPr>
          <a:xfrm xmlns:a="http://schemas.openxmlformats.org/drawingml/2006/main">
            <a:off x="9744075" y="224790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F6670"/>
                </a:solidFill>
              </a:defRPr>
            </a:pPr>
            <a:r>
              <a:rPr sz="975" b="1">
                <a:solidFill>
                  <a:srgbClr val="5F6670"/>
                </a:solidFill>
              </a:rPr>
              <a:t>OUTPUT</a:t>
            </a:r>
          </a:p>
        </p:txBody>
      </p:sp>
      <p:sp>
        <p:nvSpPr>
          <p:cNvPr id="28" name="stage-title-4">
            <a:extLst xmlns:a="http://schemas.openxmlformats.org/drawingml/2006/main">
              <a:ext uri="{FF2B5EF4-FFF2-40B4-BE49-F238E27FC236}">
                <a16:creationId xmlns:a16="http://schemas.microsoft.com/office/drawing/2014/main" id="{D2141AB6-2E28-43EA-B23C-CDABA79A6468}"/>
              </a:ext>
            </a:extLst>
          </p:cNvPr>
          <p:cNvSpPr>
            <a:spLocks xmlns:a="http://schemas.openxmlformats.org/drawingml/2006/main" noGrp="1"/>
          </p:cNvSpPr>
          <p:nvPr/>
        </p:nvSpPr>
        <p:spPr>
          <a:xfrm xmlns:a="http://schemas.openxmlformats.org/drawingml/2006/main">
            <a:off x="9248775" y="2609850"/>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Editable short + long copy</a:t>
            </a:r>
          </a:p>
        </p:txBody>
      </p:sp>
      <p:sp>
        <p:nvSpPr>
          <p:cNvPr id="29" name="stage-body-4">
            <a:extLst xmlns:a="http://schemas.openxmlformats.org/drawingml/2006/main">
              <a:ext uri="{FF2B5EF4-FFF2-40B4-BE49-F238E27FC236}">
                <a16:creationId xmlns:a16="http://schemas.microsoft.com/office/drawing/2014/main" id="{4B540BB5-D063-4C18-B672-5A72B60D998B}"/>
              </a:ext>
            </a:extLst>
          </p:cNvPr>
          <p:cNvSpPr>
            <a:spLocks xmlns:a="http://schemas.openxmlformats.org/drawingml/2006/main" noGrp="1"/>
          </p:cNvSpPr>
          <p:nvPr/>
        </p:nvSpPr>
        <p:spPr>
          <a:xfrm xmlns:a="http://schemas.openxmlformats.org/drawingml/2006/main">
            <a:off x="9077325" y="3562350"/>
            <a:ext cx="2381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11111"/>
                </a:solidFill>
              </a:defRPr>
            </a:pPr>
            <a:r>
              <a:rPr sz="1275" b="0">
                <a:solidFill>
                  <a:srgbClr val="111111"/>
                </a:solidFill>
              </a:rPr>
              <a:t>Deterministic templates assemble a draft for human and claims review.</a:t>
            </a:r>
          </a:p>
        </p:txBody>
      </p:sp>
      <p:sp>
        <p:nvSpPr>
          <p:cNvPr id="30" name="local-layer-label">
            <a:extLst xmlns:a="http://schemas.openxmlformats.org/drawingml/2006/main">
              <a:ext uri="{FF2B5EF4-FFF2-40B4-BE49-F238E27FC236}">
                <a16:creationId xmlns:a16="http://schemas.microsoft.com/office/drawing/2014/main" id="{B9E786FB-70C3-4FEC-A4DB-224DF4BA4BB9}"/>
              </a:ext>
            </a:extLst>
          </p:cNvPr>
          <p:cNvSpPr>
            <a:spLocks xmlns:a="http://schemas.openxmlformats.org/drawingml/2006/main" noGrp="1"/>
          </p:cNvSpPr>
          <p:nvPr/>
        </p:nvSpPr>
        <p:spPr>
          <a:xfrm xmlns:a="http://schemas.openxmlformats.org/drawingml/2006/main">
            <a:off x="533400" y="5743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F6670"/>
                </a:solidFill>
              </a:defRPr>
            </a:pPr>
            <a:r>
              <a:rPr sz="975" b="1">
                <a:solidFill>
                  <a:srgbClr val="5F6670"/>
                </a:solidFill>
              </a:rPr>
              <a:t>LOCAL SUPPORT LAYER</a:t>
            </a:r>
          </a:p>
        </p:txBody>
      </p:sp>
      <p:sp>
        <p:nvSpPr>
          <p:cNvPr id="31" name="local-layer-main">
            <a:extLst xmlns:a="http://schemas.openxmlformats.org/drawingml/2006/main">
              <a:ext uri="{FF2B5EF4-FFF2-40B4-BE49-F238E27FC236}">
                <a16:creationId xmlns:a16="http://schemas.microsoft.com/office/drawing/2014/main" id="{A10B2ED2-6CB5-47D2-B5EA-05DFE3F655E2}"/>
              </a:ext>
            </a:extLst>
          </p:cNvPr>
          <p:cNvSpPr>
            <a:spLocks xmlns:a="http://schemas.openxmlformats.org/drawingml/2006/main" noGrp="1"/>
          </p:cNvSpPr>
          <p:nvPr/>
        </p:nvSpPr>
        <p:spPr>
          <a:xfrm xmlns:a="http://schemas.openxmlformats.org/drawingml/2006/main">
            <a:off x="2743200" y="56864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111"/>
                </a:solidFill>
              </a:defRPr>
            </a:pPr>
            <a:r>
              <a:rPr sz="1425" b="1">
                <a:solidFill>
                  <a:srgbClr val="111111"/>
                </a:solidFill>
              </a:rPr>
              <a:t>Optional Node.js built-in HTTP server</a:t>
            </a:r>
          </a:p>
        </p:txBody>
      </p:sp>
      <p:sp>
        <p:nvSpPr>
          <p:cNvPr id="32" name="local-layer-boundaries">
            <a:extLst xmlns:a="http://schemas.openxmlformats.org/drawingml/2006/main">
              <a:ext uri="{FF2B5EF4-FFF2-40B4-BE49-F238E27FC236}">
                <a16:creationId xmlns:a16="http://schemas.microsoft.com/office/drawing/2014/main" id="{2F017BC5-54C9-4E1B-A975-DE4DC2323C83}"/>
              </a:ext>
            </a:extLst>
          </p:cNvPr>
          <p:cNvSpPr>
            <a:spLocks xmlns:a="http://schemas.openxmlformats.org/drawingml/2006/main" noGrp="1"/>
          </p:cNvSpPr>
          <p:nvPr/>
        </p:nvSpPr>
        <p:spPr>
          <a:xfrm xmlns:a="http://schemas.openxmlformats.org/drawingml/2006/main">
            <a:off x="6429375" y="5705475"/>
            <a:ext cx="522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3D8DFF"/>
                </a:solidFill>
              </a:defRPr>
            </a:pPr>
            <a:r>
              <a:rPr sz="1200" b="1">
                <a:solidFill>
                  <a:srgbClr val="3D8DFF"/>
                </a:solidFill>
              </a:rPr>
              <a:t>No database   •   No cloud AI/API   •   No external data transfer</a:t>
            </a:r>
          </a:p>
        </p:txBody>
      </p:sp>
      <p:sp>
        <p:nvSpPr>
          <p:cNvPr id="33" name="footer-brand-1">
            <a:extLst xmlns:a="http://schemas.openxmlformats.org/drawingml/2006/main">
              <a:ext uri="{FF2B5EF4-FFF2-40B4-BE49-F238E27FC236}">
                <a16:creationId xmlns:a16="http://schemas.microsoft.com/office/drawing/2014/main" id="{32EE8E8C-83CE-48B9-8C58-B34A97B06CEB}"/>
              </a:ext>
            </a:extLst>
          </p:cNvPr>
          <p:cNvSpPr>
            <a:spLocks xmlns:a="http://schemas.openxmlformats.org/drawingml/2006/main" noGrp="1"/>
          </p:cNvSpPr>
          <p:nvPr/>
        </p:nvSpPr>
        <p:spPr>
          <a:xfrm xmlns:a="http://schemas.openxmlformats.org/drawingml/2006/main">
            <a:off x="533400" y="64103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F6670"/>
                </a:solidFill>
              </a:defRPr>
            </a:pPr>
            <a:r>
              <a:rPr sz="825" b="1">
                <a:solidFill>
                  <a:srgbClr val="5F6670"/>
                </a:solidFill>
              </a:rPr>
              <a:t>IGT SYSTEMS  /  SALES TEXT ENGINE</a:t>
            </a:r>
          </a:p>
        </p:txBody>
      </p:sp>
      <p:sp>
        <p:nvSpPr>
          <p:cNvPr id="34" name="footer-number-1">
            <a:extLst xmlns:a="http://schemas.openxmlformats.org/drawingml/2006/main">
              <a:ext uri="{FF2B5EF4-FFF2-40B4-BE49-F238E27FC236}">
                <a16:creationId xmlns:a16="http://schemas.microsoft.com/office/drawing/2014/main" id="{F1EB6030-146A-4DE5-9170-E2211AA99EB6}"/>
              </a:ext>
            </a:extLst>
          </p:cNvPr>
          <p:cNvSpPr>
            <a:spLocks xmlns:a="http://schemas.openxmlformats.org/drawingml/2006/main" noGrp="1"/>
          </p:cNvSpPr>
          <p:nvPr/>
        </p:nvSpPr>
        <p:spPr>
          <a:xfrm xmlns:a="http://schemas.openxmlformats.org/drawingml/2006/main">
            <a:off x="11239500" y="63817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5F6670"/>
                </a:solidFill>
              </a:defRPr>
            </a:pPr>
            <a:r>
              <a:rPr sz="825" b="1">
                <a:solidFill>
                  <a:srgbClr val="5F6670"/>
                </a:solidFill>
              </a:rPr>
              <a:t>01</a:t>
            </a:r>
          </a:p>
        </p:txBody>
      </p:sp>
    </p:spTree>
    <p:extLst>
      <p:ext uri="{BB962C8B-B14F-4D97-AF65-F5344CB8AC3E}">
        <p14:creationId xmlns:p14="http://schemas.microsoft.com/office/powerpoint/2010/main" val="18203270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title-accent-2">
            <a:extLst xmlns:a="http://schemas.openxmlformats.org/drawingml/2006/main">
              <a:ext uri="{FF2B5EF4-FFF2-40B4-BE49-F238E27FC236}">
                <a16:creationId xmlns:a16="http://schemas.microsoft.com/office/drawing/2014/main" id="{537E42C2-DA63-4FCB-BF82-79FABFB39E39}"/>
              </a:ext>
            </a:extLst>
          </p:cNvPr>
          <p:cNvSpPr>
            <a:spLocks xmlns:a="http://schemas.openxmlformats.org/drawingml/2006/main" noGrp="1"/>
          </p:cNvSpPr>
          <p:nvPr/>
        </p:nvSpPr>
        <p:spPr>
          <a:xfrm xmlns:a="http://schemas.openxmlformats.org/drawingml/2006/main">
            <a:off x="533400" y="400050"/>
            <a:ext cx="76200" cy="647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itle-2">
            <a:extLst xmlns:a="http://schemas.openxmlformats.org/drawingml/2006/main">
              <a:ext uri="{FF2B5EF4-FFF2-40B4-BE49-F238E27FC236}">
                <a16:creationId xmlns:a16="http://schemas.microsoft.com/office/drawing/2014/main" id="{A9C97DF9-7ECE-4A10-ACA8-BF10A6EEE9E6}"/>
              </a:ext>
            </a:extLst>
          </p:cNvPr>
          <p:cNvSpPr>
            <a:spLocks xmlns:a="http://schemas.openxmlformats.org/drawingml/2006/main" noGrp="1"/>
          </p:cNvSpPr>
          <p:nvPr/>
        </p:nvSpPr>
        <p:spPr>
          <a:xfrm xmlns:a="http://schemas.openxmlformats.org/drawingml/2006/main">
            <a:off x="800100" y="3429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defRPr>
            </a:pPr>
            <a:r>
              <a:rPr sz="3000" b="1">
                <a:solidFill>
                  <a:srgbClr val="111111"/>
                </a:solidFill>
              </a:rPr>
              <a:t>Lightweight today; governed integration enables Philips-wide use</a:t>
            </a:r>
          </a:p>
        </p:txBody>
      </p:sp>
      <p:sp>
        <p:nvSpPr>
          <p:cNvPr id="3" name="subtitle-2">
            <a:extLst xmlns:a="http://schemas.openxmlformats.org/drawingml/2006/main">
              <a:ext uri="{FF2B5EF4-FFF2-40B4-BE49-F238E27FC236}">
                <a16:creationId xmlns:a16="http://schemas.microsoft.com/office/drawing/2014/main" id="{F4D67788-5A1C-412E-B79D-17213515EAC9}"/>
              </a:ext>
            </a:extLst>
          </p:cNvPr>
          <p:cNvSpPr>
            <a:spLocks xmlns:a="http://schemas.openxmlformats.org/drawingml/2006/main" noGrp="1"/>
          </p:cNvSpPr>
          <p:nvPr/>
        </p:nvSpPr>
        <p:spPr>
          <a:xfrm xmlns:a="http://schemas.openxmlformats.org/drawingml/2006/main">
            <a:off x="800100" y="914400"/>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F6670"/>
                </a:solidFill>
              </a:defRPr>
            </a:pPr>
            <a:r>
              <a:rPr sz="1350" b="0">
                <a:solidFill>
                  <a:srgbClr val="5F6670"/>
                </a:solidFill>
              </a:rPr>
              <a:t>The prototype can stay insourced while its hosting, source data and publishing controls mature in clear steps.</a:t>
            </a:r>
          </a:p>
        </p:txBody>
      </p:sp>
      <p:sp>
        <p:nvSpPr>
          <p:cNvPr id="4" name="current-foundation">
            <a:extLst xmlns:a="http://schemas.openxmlformats.org/drawingml/2006/main">
              <a:ext uri="{FF2B5EF4-FFF2-40B4-BE49-F238E27FC236}">
                <a16:creationId xmlns:a16="http://schemas.microsoft.com/office/drawing/2014/main" id="{BF8650CB-DEFF-48A1-B298-2221D8C8D252}"/>
              </a:ext>
            </a:extLst>
          </p:cNvPr>
          <p:cNvSpPr>
            <a:spLocks xmlns:a="http://schemas.openxmlformats.org/drawingml/2006/main" noGrp="1"/>
          </p:cNvSpPr>
          <p:nvPr/>
        </p:nvSpPr>
        <p:spPr>
          <a:xfrm xmlns:a="http://schemas.openxmlformats.org/drawingml/2006/main">
            <a:off x="533400" y="1676400"/>
            <a:ext cx="3829050" cy="3857625"/>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5" name="current-accent">
            <a:extLst xmlns:a="http://schemas.openxmlformats.org/drawingml/2006/main">
              <a:ext uri="{FF2B5EF4-FFF2-40B4-BE49-F238E27FC236}">
                <a16:creationId xmlns:a16="http://schemas.microsoft.com/office/drawing/2014/main" id="{C3373F24-C607-4DC9-87C1-480205259FAE}"/>
              </a:ext>
            </a:extLst>
          </p:cNvPr>
          <p:cNvSpPr>
            <a:spLocks xmlns:a="http://schemas.openxmlformats.org/drawingml/2006/main" noGrp="1"/>
          </p:cNvSpPr>
          <p:nvPr/>
        </p:nvSpPr>
        <p:spPr>
          <a:xfrm xmlns:a="http://schemas.openxmlformats.org/drawingml/2006/main">
            <a:off x="533400" y="1676400"/>
            <a:ext cx="38290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current-eyebrow">
            <a:extLst xmlns:a="http://schemas.openxmlformats.org/drawingml/2006/main">
              <a:ext uri="{FF2B5EF4-FFF2-40B4-BE49-F238E27FC236}">
                <a16:creationId xmlns:a16="http://schemas.microsoft.com/office/drawing/2014/main" id="{282232E5-F974-4435-A5EA-B48BC110622E}"/>
              </a:ext>
            </a:extLst>
          </p:cNvPr>
          <p:cNvSpPr>
            <a:spLocks xmlns:a="http://schemas.openxmlformats.org/drawingml/2006/main" noGrp="1"/>
          </p:cNvSpPr>
          <p:nvPr/>
        </p:nvSpPr>
        <p:spPr>
          <a:xfrm xmlns:a="http://schemas.openxmlformats.org/drawingml/2006/main">
            <a:off x="781050" y="2000250"/>
            <a:ext cx="3143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F6670"/>
                </a:solidFill>
              </a:defRPr>
            </a:pPr>
            <a:r>
              <a:rPr sz="975" b="1">
                <a:solidFill>
                  <a:srgbClr val="5F6670"/>
                </a:solidFill>
              </a:rPr>
              <a:t>CURRENT LOCAL FOUNDATION</a:t>
            </a:r>
          </a:p>
        </p:txBody>
      </p:sp>
      <p:sp>
        <p:nvSpPr>
          <p:cNvPr id="7" name="current-headline">
            <a:extLst xmlns:a="http://schemas.openxmlformats.org/drawingml/2006/main">
              <a:ext uri="{FF2B5EF4-FFF2-40B4-BE49-F238E27FC236}">
                <a16:creationId xmlns:a16="http://schemas.microsoft.com/office/drawing/2014/main" id="{DD4BDEA0-CA77-4BB1-ACE8-70E971FF6D21}"/>
              </a:ext>
            </a:extLst>
          </p:cNvPr>
          <p:cNvSpPr>
            <a:spLocks xmlns:a="http://schemas.openxmlformats.org/drawingml/2006/main" noGrp="1"/>
          </p:cNvSpPr>
          <p:nvPr/>
        </p:nvSpPr>
        <p:spPr>
          <a:xfrm xmlns:a="http://schemas.openxmlformats.org/drawingml/2006/main">
            <a:off x="781050" y="23526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defRPr>
            </a:pPr>
            <a:r>
              <a:rPr sz="2325" b="1">
                <a:solidFill>
                  <a:srgbClr val="111111"/>
                </a:solidFill>
              </a:rPr>
              <a:t>Zero external dependencies</a:t>
            </a:r>
          </a:p>
        </p:txBody>
      </p:sp>
      <p:sp>
        <p:nvSpPr>
          <p:cNvPr id="8" name="current-num-0">
            <a:extLst xmlns:a="http://schemas.openxmlformats.org/drawingml/2006/main">
              <a:ext uri="{FF2B5EF4-FFF2-40B4-BE49-F238E27FC236}">
                <a16:creationId xmlns:a16="http://schemas.microsoft.com/office/drawing/2014/main" id="{85E8BD34-B26D-4EEF-BBDB-C18A298E40AF}"/>
              </a:ext>
            </a:extLst>
          </p:cNvPr>
          <p:cNvSpPr>
            <a:spLocks xmlns:a="http://schemas.openxmlformats.org/drawingml/2006/main" noGrp="1"/>
          </p:cNvSpPr>
          <p:nvPr/>
        </p:nvSpPr>
        <p:spPr>
          <a:xfrm xmlns:a="http://schemas.openxmlformats.org/drawingml/2006/main">
            <a:off x="781050" y="3257550"/>
            <a:ext cx="33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01</a:t>
            </a:r>
          </a:p>
        </p:txBody>
      </p:sp>
      <p:sp>
        <p:nvSpPr>
          <p:cNvPr id="9" name="current-label-0">
            <a:extLst xmlns:a="http://schemas.openxmlformats.org/drawingml/2006/main">
              <a:ext uri="{FF2B5EF4-FFF2-40B4-BE49-F238E27FC236}">
                <a16:creationId xmlns:a16="http://schemas.microsoft.com/office/drawing/2014/main" id="{6E73FEF3-B53B-4CA0-9D5D-CE7100EC0325}"/>
              </a:ext>
            </a:extLst>
          </p:cNvPr>
          <p:cNvSpPr>
            <a:spLocks xmlns:a="http://schemas.openxmlformats.org/drawingml/2006/main" noGrp="1"/>
          </p:cNvSpPr>
          <p:nvPr/>
        </p:nvSpPr>
        <p:spPr>
          <a:xfrm xmlns:a="http://schemas.openxmlformats.org/drawingml/2006/main">
            <a:off x="1200150" y="3257550"/>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11111"/>
                </a:solidFill>
              </a:defRPr>
            </a:pPr>
            <a:r>
              <a:rPr sz="1050" b="1">
                <a:solidFill>
                  <a:srgbClr val="111111"/>
                </a:solidFill>
              </a:rPr>
              <a:t>Interface</a:t>
            </a:r>
          </a:p>
        </p:txBody>
      </p:sp>
      <p:sp>
        <p:nvSpPr>
          <p:cNvPr id="10" name="current-value-0">
            <a:extLst xmlns:a="http://schemas.openxmlformats.org/drawingml/2006/main">
              <a:ext uri="{FF2B5EF4-FFF2-40B4-BE49-F238E27FC236}">
                <a16:creationId xmlns:a16="http://schemas.microsoft.com/office/drawing/2014/main" id="{3E9600BB-4383-4083-9A50-4D84D953E2F0}"/>
              </a:ext>
            </a:extLst>
          </p:cNvPr>
          <p:cNvSpPr>
            <a:spLocks xmlns:a="http://schemas.openxmlformats.org/drawingml/2006/main" noGrp="1"/>
          </p:cNvSpPr>
          <p:nvPr/>
        </p:nvSpPr>
        <p:spPr>
          <a:xfrm xmlns:a="http://schemas.openxmlformats.org/drawingml/2006/main">
            <a:off x="2095500" y="3257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F6670"/>
                </a:solidFill>
              </a:defRPr>
            </a:pPr>
            <a:r>
              <a:rPr sz="1050" b="0">
                <a:solidFill>
                  <a:srgbClr val="5F6670"/>
                </a:solidFill>
              </a:rPr>
              <a:t>HTML5, CSS3, vanilla JavaScript</a:t>
            </a:r>
          </a:p>
        </p:txBody>
      </p:sp>
      <p:cxnSp>
        <p:nvCxnSpPr>
          <p:cNvPr id="52" name="current-separator-1"/>
          <p:cNvCxnSpPr/>
          <p:nvPr/>
        </p:nvCxnSpPr>
        <p:spPr>
          <a:xfrm xmlns:a="http://schemas.openxmlformats.org/drawingml/2006/main">
            <a:off x="781050" y="3676650"/>
            <a:ext cx="3143250" cy="953"/>
          </a:xfrm>
          <a:prstGeom xmlns:a="http://schemas.openxmlformats.org/drawingml/2006/main" prst="straightConnector1">
            <a:avLst/>
          </a:prstGeom>
          <a:ln xmlns:a="http://schemas.openxmlformats.org/drawingml/2006/main" w="9525">
            <a:solidFill>
              <a:srgbClr val="B8BCC4"/>
            </a:solidFill>
            <a:prstDash val="solid"/>
          </a:ln>
        </p:spPr>
      </p:cxnSp>
      <p:sp>
        <p:nvSpPr>
          <p:cNvPr id="12" name="current-num-1">
            <a:extLst xmlns:a="http://schemas.openxmlformats.org/drawingml/2006/main">
              <a:ext uri="{FF2B5EF4-FFF2-40B4-BE49-F238E27FC236}">
                <a16:creationId xmlns:a16="http://schemas.microsoft.com/office/drawing/2014/main" id="{51BC72C0-6B33-4950-9FA9-F2FA39169D8B}"/>
              </a:ext>
            </a:extLst>
          </p:cNvPr>
          <p:cNvSpPr>
            <a:spLocks xmlns:a="http://schemas.openxmlformats.org/drawingml/2006/main" noGrp="1"/>
          </p:cNvSpPr>
          <p:nvPr/>
        </p:nvSpPr>
        <p:spPr>
          <a:xfrm xmlns:a="http://schemas.openxmlformats.org/drawingml/2006/main">
            <a:off x="781050" y="3771900"/>
            <a:ext cx="33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02</a:t>
            </a:r>
          </a:p>
        </p:txBody>
      </p:sp>
      <p:sp>
        <p:nvSpPr>
          <p:cNvPr id="13" name="current-label-1">
            <a:extLst xmlns:a="http://schemas.openxmlformats.org/drawingml/2006/main">
              <a:ext uri="{FF2B5EF4-FFF2-40B4-BE49-F238E27FC236}">
                <a16:creationId xmlns:a16="http://schemas.microsoft.com/office/drawing/2014/main" id="{3B84CF09-B8FA-4293-BC59-CD9315814AB7}"/>
              </a:ext>
            </a:extLst>
          </p:cNvPr>
          <p:cNvSpPr>
            <a:spLocks xmlns:a="http://schemas.openxmlformats.org/drawingml/2006/main" noGrp="1"/>
          </p:cNvSpPr>
          <p:nvPr/>
        </p:nvSpPr>
        <p:spPr>
          <a:xfrm xmlns:a="http://schemas.openxmlformats.org/drawingml/2006/main">
            <a:off x="1200150" y="3771900"/>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11111"/>
                </a:solidFill>
              </a:defRPr>
            </a:pPr>
            <a:r>
              <a:rPr sz="1050" b="1">
                <a:solidFill>
                  <a:srgbClr val="111111"/>
                </a:solidFill>
              </a:rPr>
              <a:t>Serving</a:t>
            </a:r>
          </a:p>
        </p:txBody>
      </p:sp>
      <p:sp>
        <p:nvSpPr>
          <p:cNvPr id="14" name="current-value-1">
            <a:extLst xmlns:a="http://schemas.openxmlformats.org/drawingml/2006/main">
              <a:ext uri="{FF2B5EF4-FFF2-40B4-BE49-F238E27FC236}">
                <a16:creationId xmlns:a16="http://schemas.microsoft.com/office/drawing/2014/main" id="{2A267A57-D86E-448F-BB64-F1DD026117FE}"/>
              </a:ext>
            </a:extLst>
          </p:cNvPr>
          <p:cNvSpPr>
            <a:spLocks xmlns:a="http://schemas.openxmlformats.org/drawingml/2006/main" noGrp="1"/>
          </p:cNvSpPr>
          <p:nvPr/>
        </p:nvSpPr>
        <p:spPr>
          <a:xfrm xmlns:a="http://schemas.openxmlformats.org/drawingml/2006/main">
            <a:off x="2095500" y="377190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F6670"/>
                </a:solidFill>
              </a:defRPr>
            </a:pPr>
            <a:r>
              <a:rPr sz="1050" b="0">
                <a:solidFill>
                  <a:srgbClr val="5F6670"/>
                </a:solidFill>
              </a:rPr>
              <a:t>Optional Node.js HTTP server</a:t>
            </a:r>
          </a:p>
        </p:txBody>
      </p:sp>
      <p:cxnSp>
        <p:nvCxnSpPr>
          <p:cNvPr id="56" name="current-separator-2"/>
          <p:cNvCxnSpPr/>
          <p:nvPr/>
        </p:nvCxnSpPr>
        <p:spPr>
          <a:xfrm xmlns:a="http://schemas.openxmlformats.org/drawingml/2006/main">
            <a:off x="781050" y="4191000"/>
            <a:ext cx="3143250" cy="953"/>
          </a:xfrm>
          <a:prstGeom xmlns:a="http://schemas.openxmlformats.org/drawingml/2006/main" prst="straightConnector1">
            <a:avLst/>
          </a:prstGeom>
          <a:ln xmlns:a="http://schemas.openxmlformats.org/drawingml/2006/main" w="9525">
            <a:solidFill>
              <a:srgbClr val="B8BCC4"/>
            </a:solidFill>
            <a:prstDash val="solid"/>
          </a:ln>
        </p:spPr>
      </p:cxnSp>
      <p:sp>
        <p:nvSpPr>
          <p:cNvPr id="16" name="current-num-2">
            <a:extLst xmlns:a="http://schemas.openxmlformats.org/drawingml/2006/main">
              <a:ext uri="{FF2B5EF4-FFF2-40B4-BE49-F238E27FC236}">
                <a16:creationId xmlns:a16="http://schemas.microsoft.com/office/drawing/2014/main" id="{ADFBF30E-239D-46F5-BF04-3F7ED53695A0}"/>
              </a:ext>
            </a:extLst>
          </p:cNvPr>
          <p:cNvSpPr>
            <a:spLocks xmlns:a="http://schemas.openxmlformats.org/drawingml/2006/main" noGrp="1"/>
          </p:cNvSpPr>
          <p:nvPr/>
        </p:nvSpPr>
        <p:spPr>
          <a:xfrm xmlns:a="http://schemas.openxmlformats.org/drawingml/2006/main">
            <a:off x="781050" y="4286250"/>
            <a:ext cx="33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03</a:t>
            </a:r>
          </a:p>
        </p:txBody>
      </p:sp>
      <p:sp>
        <p:nvSpPr>
          <p:cNvPr id="17" name="current-label-2">
            <a:extLst xmlns:a="http://schemas.openxmlformats.org/drawingml/2006/main">
              <a:ext uri="{FF2B5EF4-FFF2-40B4-BE49-F238E27FC236}">
                <a16:creationId xmlns:a16="http://schemas.microsoft.com/office/drawing/2014/main" id="{C269742D-81EC-4AD3-B301-D6015E2C0A9F}"/>
              </a:ext>
            </a:extLst>
          </p:cNvPr>
          <p:cNvSpPr>
            <a:spLocks xmlns:a="http://schemas.openxmlformats.org/drawingml/2006/main" noGrp="1"/>
          </p:cNvSpPr>
          <p:nvPr/>
        </p:nvSpPr>
        <p:spPr>
          <a:xfrm xmlns:a="http://schemas.openxmlformats.org/drawingml/2006/main">
            <a:off x="1200150" y="4286250"/>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11111"/>
                </a:solidFill>
              </a:defRPr>
            </a:pPr>
            <a:r>
              <a:rPr sz="1050" b="1">
                <a:solidFill>
                  <a:srgbClr val="111111"/>
                </a:solidFill>
              </a:rPr>
              <a:t>Data</a:t>
            </a:r>
          </a:p>
        </p:txBody>
      </p:sp>
      <p:sp>
        <p:nvSpPr>
          <p:cNvPr id="18" name="current-value-2">
            <a:extLst xmlns:a="http://schemas.openxmlformats.org/drawingml/2006/main">
              <a:ext uri="{FF2B5EF4-FFF2-40B4-BE49-F238E27FC236}">
                <a16:creationId xmlns:a16="http://schemas.microsoft.com/office/drawing/2014/main" id="{94194E27-D22E-429E-A7BF-F7889A0EF6E8}"/>
              </a:ext>
            </a:extLst>
          </p:cNvPr>
          <p:cNvSpPr>
            <a:spLocks xmlns:a="http://schemas.openxmlformats.org/drawingml/2006/main" noGrp="1"/>
          </p:cNvSpPr>
          <p:nvPr/>
        </p:nvSpPr>
        <p:spPr>
          <a:xfrm xmlns:a="http://schemas.openxmlformats.org/drawingml/2006/main">
            <a:off x="2095500" y="42862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F6670"/>
                </a:solidFill>
              </a:defRPr>
            </a:pPr>
            <a:r>
              <a:rPr sz="1050" b="0">
                <a:solidFill>
                  <a:srgbClr val="5F6670"/>
                </a:solidFill>
              </a:rPr>
              <a:t>Embedded JS/JSON catalogue; no database</a:t>
            </a:r>
          </a:p>
        </p:txBody>
      </p:sp>
      <p:cxnSp>
        <p:nvCxnSpPr>
          <p:cNvPr id="60" name="current-separator-3"/>
          <p:cNvCxnSpPr/>
          <p:nvPr/>
        </p:nvCxnSpPr>
        <p:spPr>
          <a:xfrm xmlns:a="http://schemas.openxmlformats.org/drawingml/2006/main">
            <a:off x="781050" y="4705350"/>
            <a:ext cx="3143250" cy="953"/>
          </a:xfrm>
          <a:prstGeom xmlns:a="http://schemas.openxmlformats.org/drawingml/2006/main" prst="straightConnector1">
            <a:avLst/>
          </a:prstGeom>
          <a:ln xmlns:a="http://schemas.openxmlformats.org/drawingml/2006/main" w="9525">
            <a:solidFill>
              <a:srgbClr val="B8BCC4"/>
            </a:solidFill>
            <a:prstDash val="solid"/>
          </a:ln>
        </p:spPr>
      </p:cxnSp>
      <p:sp>
        <p:nvSpPr>
          <p:cNvPr id="20" name="current-num-3">
            <a:extLst xmlns:a="http://schemas.openxmlformats.org/drawingml/2006/main">
              <a:ext uri="{FF2B5EF4-FFF2-40B4-BE49-F238E27FC236}">
                <a16:creationId xmlns:a16="http://schemas.microsoft.com/office/drawing/2014/main" id="{C3C71EBF-5279-4C95-97CD-8038BDAE30E5}"/>
              </a:ext>
            </a:extLst>
          </p:cNvPr>
          <p:cNvSpPr>
            <a:spLocks xmlns:a="http://schemas.openxmlformats.org/drawingml/2006/main" noGrp="1"/>
          </p:cNvSpPr>
          <p:nvPr/>
        </p:nvSpPr>
        <p:spPr>
          <a:xfrm xmlns:a="http://schemas.openxmlformats.org/drawingml/2006/main">
            <a:off x="781050" y="4800600"/>
            <a:ext cx="33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04</a:t>
            </a:r>
          </a:p>
        </p:txBody>
      </p:sp>
      <p:sp>
        <p:nvSpPr>
          <p:cNvPr id="21" name="current-label-3">
            <a:extLst xmlns:a="http://schemas.openxmlformats.org/drawingml/2006/main">
              <a:ext uri="{FF2B5EF4-FFF2-40B4-BE49-F238E27FC236}">
                <a16:creationId xmlns:a16="http://schemas.microsoft.com/office/drawing/2014/main" id="{96EE9908-CAE3-448B-BF75-E4DB36A5D70D}"/>
              </a:ext>
            </a:extLst>
          </p:cNvPr>
          <p:cNvSpPr>
            <a:spLocks xmlns:a="http://schemas.openxmlformats.org/drawingml/2006/main" noGrp="1"/>
          </p:cNvSpPr>
          <p:nvPr/>
        </p:nvSpPr>
        <p:spPr>
          <a:xfrm xmlns:a="http://schemas.openxmlformats.org/drawingml/2006/main">
            <a:off x="1200150" y="4800600"/>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11111"/>
                </a:solidFill>
              </a:defRPr>
            </a:pPr>
            <a:r>
              <a:rPr sz="1050" b="1">
                <a:solidFill>
                  <a:srgbClr val="111111"/>
                </a:solidFill>
              </a:rPr>
              <a:t>Writing</a:t>
            </a:r>
          </a:p>
        </p:txBody>
      </p:sp>
      <p:sp>
        <p:nvSpPr>
          <p:cNvPr id="22" name="current-value-3">
            <a:extLst xmlns:a="http://schemas.openxmlformats.org/drawingml/2006/main">
              <a:ext uri="{FF2B5EF4-FFF2-40B4-BE49-F238E27FC236}">
                <a16:creationId xmlns:a16="http://schemas.microsoft.com/office/drawing/2014/main" id="{625C2FAE-70E9-44CF-9E9C-9217CF6E1594}"/>
              </a:ext>
            </a:extLst>
          </p:cNvPr>
          <p:cNvSpPr>
            <a:spLocks xmlns:a="http://schemas.openxmlformats.org/drawingml/2006/main" noGrp="1"/>
          </p:cNvSpPr>
          <p:nvPr/>
        </p:nvSpPr>
        <p:spPr>
          <a:xfrm xmlns:a="http://schemas.openxmlformats.org/drawingml/2006/main">
            <a:off x="2095500" y="480060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F6670"/>
                </a:solidFill>
              </a:defRPr>
            </a:pPr>
            <a:r>
              <a:rPr sz="1050" b="0">
                <a:solidFill>
                  <a:srgbClr val="5F6670"/>
                </a:solidFill>
              </a:rPr>
              <a:t>Rule- and template-based; not an LLM</a:t>
            </a:r>
          </a:p>
        </p:txBody>
      </p:sp>
      <p:sp>
        <p:nvSpPr>
          <p:cNvPr id="23" name="path-eyebrow">
            <a:extLst xmlns:a="http://schemas.openxmlformats.org/drawingml/2006/main">
              <a:ext uri="{FF2B5EF4-FFF2-40B4-BE49-F238E27FC236}">
                <a16:creationId xmlns:a16="http://schemas.microsoft.com/office/drawing/2014/main" id="{9BB3D1F9-45DB-4776-97F4-6871614EA996}"/>
              </a:ext>
            </a:extLst>
          </p:cNvPr>
          <p:cNvSpPr>
            <a:spLocks xmlns:a="http://schemas.openxmlformats.org/drawingml/2006/main" noGrp="1"/>
          </p:cNvSpPr>
          <p:nvPr/>
        </p:nvSpPr>
        <p:spPr>
          <a:xfrm xmlns:a="http://schemas.openxmlformats.org/drawingml/2006/main">
            <a:off x="4857750" y="16764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F6670"/>
                </a:solidFill>
              </a:defRPr>
            </a:pPr>
            <a:r>
              <a:rPr sz="975" b="1">
                <a:solidFill>
                  <a:srgbClr val="5F6670"/>
                </a:solidFill>
              </a:rPr>
              <a:t>PATH TO ENTERPRISE USE</a:t>
            </a:r>
          </a:p>
        </p:txBody>
      </p:sp>
      <p:cxnSp>
        <p:nvCxnSpPr>
          <p:cNvPr id="65" name="enterprise-spine"/>
          <p:cNvCxnSpPr/>
          <p:nvPr/>
        </p:nvCxnSpPr>
        <p:spPr>
          <a:xfrm xmlns:a="http://schemas.openxmlformats.org/drawingml/2006/main">
            <a:off x="5143500" y="2314575"/>
            <a:ext cx="953" cy="2686050"/>
          </a:xfrm>
          <a:prstGeom xmlns:a="http://schemas.openxmlformats.org/drawingml/2006/main" prst="straightConnector1">
            <a:avLst/>
          </a:prstGeom>
          <a:ln xmlns:a="http://schemas.openxmlformats.org/drawingml/2006/main" w="28575">
            <a:solidFill>
              <a:srgbClr val="3D8DFF"/>
            </a:solidFill>
            <a:prstDash val="solid"/>
          </a:ln>
        </p:spPr>
      </p:cxnSp>
      <p:sp>
        <p:nvSpPr>
          <p:cNvPr id="25" name="enterprise-marker-0">
            <a:extLst xmlns:a="http://schemas.openxmlformats.org/drawingml/2006/main">
              <a:ext uri="{FF2B5EF4-FFF2-40B4-BE49-F238E27FC236}">
                <a16:creationId xmlns:a16="http://schemas.microsoft.com/office/drawing/2014/main" id="{9CF88BFF-2D73-4E46-AA85-5EF5AE7E96B5}"/>
              </a:ext>
            </a:extLst>
          </p:cNvPr>
          <p:cNvSpPr>
            <a:spLocks xmlns:a="http://schemas.openxmlformats.org/drawingml/2006/main" noGrp="1"/>
          </p:cNvSpPr>
          <p:nvPr/>
        </p:nvSpPr>
        <p:spPr>
          <a:xfrm xmlns:a="http://schemas.openxmlformats.org/drawingml/2006/main">
            <a:off x="4943475" y="2171700"/>
            <a:ext cx="400050" cy="4000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6" name="enterprise-num-0">
            <a:extLst xmlns:a="http://schemas.openxmlformats.org/drawingml/2006/main">
              <a:ext uri="{FF2B5EF4-FFF2-40B4-BE49-F238E27FC236}">
                <a16:creationId xmlns:a16="http://schemas.microsoft.com/office/drawing/2014/main" id="{6A9840CB-B33E-4A0D-A8AF-4CBC2B20D98F}"/>
              </a:ext>
            </a:extLst>
          </p:cNvPr>
          <p:cNvSpPr>
            <a:spLocks xmlns:a="http://schemas.openxmlformats.org/drawingml/2006/main" noGrp="1"/>
          </p:cNvSpPr>
          <p:nvPr/>
        </p:nvSpPr>
        <p:spPr>
          <a:xfrm xmlns:a="http://schemas.openxmlformats.org/drawingml/2006/main">
            <a:off x="4943475" y="22288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27" name="enterprise-title-0">
            <a:extLst xmlns:a="http://schemas.openxmlformats.org/drawingml/2006/main">
              <a:ext uri="{FF2B5EF4-FFF2-40B4-BE49-F238E27FC236}">
                <a16:creationId xmlns:a16="http://schemas.microsoft.com/office/drawing/2014/main" id="{0DE234B3-7EAC-4EAF-BB2B-336C91610D8C}"/>
              </a:ext>
            </a:extLst>
          </p:cNvPr>
          <p:cNvSpPr>
            <a:spLocks xmlns:a="http://schemas.openxmlformats.org/drawingml/2006/main" noGrp="1"/>
          </p:cNvSpPr>
          <p:nvPr/>
        </p:nvSpPr>
        <p:spPr>
          <a:xfrm xmlns:a="http://schemas.openxmlformats.org/drawingml/2006/main">
            <a:off x="5638800" y="20955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Host securely</a:t>
            </a:r>
          </a:p>
        </p:txBody>
      </p:sp>
      <p:sp>
        <p:nvSpPr>
          <p:cNvPr id="28" name="enterprise-body-0">
            <a:extLst xmlns:a="http://schemas.openxmlformats.org/drawingml/2006/main">
              <a:ext uri="{FF2B5EF4-FFF2-40B4-BE49-F238E27FC236}">
                <a16:creationId xmlns:a16="http://schemas.microsoft.com/office/drawing/2014/main" id="{25D360EE-FD78-4726-9225-0042BC38B223}"/>
              </a:ext>
            </a:extLst>
          </p:cNvPr>
          <p:cNvSpPr>
            <a:spLocks xmlns:a="http://schemas.openxmlformats.org/drawingml/2006/main" noGrp="1"/>
          </p:cNvSpPr>
          <p:nvPr/>
        </p:nvSpPr>
        <p:spPr>
          <a:xfrm xmlns:a="http://schemas.openxmlformats.org/drawingml/2006/main">
            <a:off x="5638800" y="249555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F6670"/>
                </a:solidFill>
              </a:defRPr>
            </a:pPr>
            <a:r>
              <a:rPr sz="1275" b="0">
                <a:solidFill>
                  <a:srgbClr val="5F6670"/>
                </a:solidFill>
              </a:rPr>
              <a:t>Deploy on a Philips-managed internal platform with SSO, role-based access and operational support.</a:t>
            </a:r>
          </a:p>
        </p:txBody>
      </p:sp>
      <p:sp>
        <p:nvSpPr>
          <p:cNvPr id="29" name="enterprise-marker-1">
            <a:extLst xmlns:a="http://schemas.openxmlformats.org/drawingml/2006/main">
              <a:ext uri="{FF2B5EF4-FFF2-40B4-BE49-F238E27FC236}">
                <a16:creationId xmlns:a16="http://schemas.microsoft.com/office/drawing/2014/main" id="{AE9E7B13-5169-4B84-A30C-C99E53313838}"/>
              </a:ext>
            </a:extLst>
          </p:cNvPr>
          <p:cNvSpPr>
            <a:spLocks xmlns:a="http://schemas.openxmlformats.org/drawingml/2006/main" noGrp="1"/>
          </p:cNvSpPr>
          <p:nvPr/>
        </p:nvSpPr>
        <p:spPr>
          <a:xfrm xmlns:a="http://schemas.openxmlformats.org/drawingml/2006/main">
            <a:off x="4943475" y="3314700"/>
            <a:ext cx="400050" cy="4000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30" name="enterprise-num-1">
            <a:extLst xmlns:a="http://schemas.openxmlformats.org/drawingml/2006/main">
              <a:ext uri="{FF2B5EF4-FFF2-40B4-BE49-F238E27FC236}">
                <a16:creationId xmlns:a16="http://schemas.microsoft.com/office/drawing/2014/main" id="{2B85FEC9-5DD1-452F-81D5-E0E19186A2CB}"/>
              </a:ext>
            </a:extLst>
          </p:cNvPr>
          <p:cNvSpPr>
            <a:spLocks xmlns:a="http://schemas.openxmlformats.org/drawingml/2006/main" noGrp="1"/>
          </p:cNvSpPr>
          <p:nvPr/>
        </p:nvSpPr>
        <p:spPr>
          <a:xfrm xmlns:a="http://schemas.openxmlformats.org/drawingml/2006/main">
            <a:off x="4943475" y="33718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31" name="enterprise-title-1">
            <a:extLst xmlns:a="http://schemas.openxmlformats.org/drawingml/2006/main">
              <a:ext uri="{FF2B5EF4-FFF2-40B4-BE49-F238E27FC236}">
                <a16:creationId xmlns:a16="http://schemas.microsoft.com/office/drawing/2014/main" id="{CF00C08F-1D18-4780-BAD5-FDF4670CAEC6}"/>
              </a:ext>
            </a:extLst>
          </p:cNvPr>
          <p:cNvSpPr>
            <a:spLocks xmlns:a="http://schemas.openxmlformats.org/drawingml/2006/main" noGrp="1"/>
          </p:cNvSpPr>
          <p:nvPr/>
        </p:nvSpPr>
        <p:spPr>
          <a:xfrm xmlns:a="http://schemas.openxmlformats.org/drawingml/2006/main">
            <a:off x="5638800" y="32385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Connect source systems</a:t>
            </a:r>
          </a:p>
        </p:txBody>
      </p:sp>
      <p:sp>
        <p:nvSpPr>
          <p:cNvPr id="32" name="enterprise-body-1">
            <a:extLst xmlns:a="http://schemas.openxmlformats.org/drawingml/2006/main">
              <a:ext uri="{FF2B5EF4-FFF2-40B4-BE49-F238E27FC236}">
                <a16:creationId xmlns:a16="http://schemas.microsoft.com/office/drawing/2014/main" id="{A3639A27-2599-49B5-9085-4B428D0AFDCB}"/>
              </a:ext>
            </a:extLst>
          </p:cNvPr>
          <p:cNvSpPr>
            <a:spLocks xmlns:a="http://schemas.openxmlformats.org/drawingml/2006/main" noGrp="1"/>
          </p:cNvSpPr>
          <p:nvPr/>
        </p:nvSpPr>
        <p:spPr>
          <a:xfrm xmlns:a="http://schemas.openxmlformats.org/drawingml/2006/main">
            <a:off x="5638800" y="363855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F6670"/>
                </a:solidFill>
              </a:defRPr>
            </a:pPr>
            <a:r>
              <a:rPr sz="1275" b="0">
                <a:solidFill>
                  <a:srgbClr val="5F6670"/>
                </a:solidFill>
              </a:rPr>
              <a:t>Establish controlled refreshes and metadata mapping for Windchill, Philips Product Library and quoting tools.</a:t>
            </a:r>
          </a:p>
        </p:txBody>
      </p:sp>
      <p:sp>
        <p:nvSpPr>
          <p:cNvPr id="33" name="enterprise-marker-2">
            <a:extLst xmlns:a="http://schemas.openxmlformats.org/drawingml/2006/main">
              <a:ext uri="{FF2B5EF4-FFF2-40B4-BE49-F238E27FC236}">
                <a16:creationId xmlns:a16="http://schemas.microsoft.com/office/drawing/2014/main" id="{8B89FD6D-B2AC-4105-BB24-7EFFAEC5C29C}"/>
              </a:ext>
            </a:extLst>
          </p:cNvPr>
          <p:cNvSpPr>
            <a:spLocks xmlns:a="http://schemas.openxmlformats.org/drawingml/2006/main" noGrp="1"/>
          </p:cNvSpPr>
          <p:nvPr/>
        </p:nvSpPr>
        <p:spPr>
          <a:xfrm xmlns:a="http://schemas.openxmlformats.org/drawingml/2006/main">
            <a:off x="4943475" y="4457700"/>
            <a:ext cx="400050" cy="4000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34" name="enterprise-num-2">
            <a:extLst xmlns:a="http://schemas.openxmlformats.org/drawingml/2006/main">
              <a:ext uri="{FF2B5EF4-FFF2-40B4-BE49-F238E27FC236}">
                <a16:creationId xmlns:a16="http://schemas.microsoft.com/office/drawing/2014/main" id="{91A16ADE-05E0-455D-829B-642BE997F9A2}"/>
              </a:ext>
            </a:extLst>
          </p:cNvPr>
          <p:cNvSpPr>
            <a:spLocks xmlns:a="http://schemas.openxmlformats.org/drawingml/2006/main" noGrp="1"/>
          </p:cNvSpPr>
          <p:nvPr/>
        </p:nvSpPr>
        <p:spPr>
          <a:xfrm xmlns:a="http://schemas.openxmlformats.org/drawingml/2006/main">
            <a:off x="4943475" y="45148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35" name="enterprise-title-2">
            <a:extLst xmlns:a="http://schemas.openxmlformats.org/drawingml/2006/main">
              <a:ext uri="{FF2B5EF4-FFF2-40B4-BE49-F238E27FC236}">
                <a16:creationId xmlns:a16="http://schemas.microsoft.com/office/drawing/2014/main" id="{BCA2C6FA-424A-4716-99CC-602125620D76}"/>
              </a:ext>
            </a:extLst>
          </p:cNvPr>
          <p:cNvSpPr>
            <a:spLocks xmlns:a="http://schemas.openxmlformats.org/drawingml/2006/main" noGrp="1"/>
          </p:cNvSpPr>
          <p:nvPr/>
        </p:nvSpPr>
        <p:spPr>
          <a:xfrm xmlns:a="http://schemas.openxmlformats.org/drawingml/2006/main">
            <a:off x="5638800" y="43815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Control publishing</a:t>
            </a:r>
          </a:p>
        </p:txBody>
      </p:sp>
      <p:sp>
        <p:nvSpPr>
          <p:cNvPr id="36" name="enterprise-body-2">
            <a:extLst xmlns:a="http://schemas.openxmlformats.org/drawingml/2006/main">
              <a:ext uri="{FF2B5EF4-FFF2-40B4-BE49-F238E27FC236}">
                <a16:creationId xmlns:a16="http://schemas.microsoft.com/office/drawing/2014/main" id="{B1102FFE-56A2-4905-B8A3-9941725F650D}"/>
              </a:ext>
            </a:extLst>
          </p:cNvPr>
          <p:cNvSpPr>
            <a:spLocks xmlns:a="http://schemas.openxmlformats.org/drawingml/2006/main" noGrp="1"/>
          </p:cNvSpPr>
          <p:nvPr/>
        </p:nvSpPr>
        <p:spPr>
          <a:xfrm xmlns:a="http://schemas.openxmlformats.org/drawingml/2006/main">
            <a:off x="5638800" y="478155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F6670"/>
                </a:solidFill>
              </a:defRPr>
            </a:pPr>
            <a:r>
              <a:rPr sz="1275" b="0">
                <a:solidFill>
                  <a:srgbClr val="5F6670"/>
                </a:solidFill>
              </a:rPr>
              <a:t>Add ownership, audit trail, review/approval and governed write-back before text becomes customer-facing.</a:t>
            </a:r>
          </a:p>
        </p:txBody>
      </p:sp>
      <p:sp>
        <p:nvSpPr>
          <p:cNvPr id="37" name="ai-guardrail">
            <a:extLst xmlns:a="http://schemas.openxmlformats.org/drawingml/2006/main">
              <a:ext uri="{FF2B5EF4-FFF2-40B4-BE49-F238E27FC236}">
                <a16:creationId xmlns:a16="http://schemas.microsoft.com/office/drawing/2014/main" id="{439E8A4D-073E-4B10-9DEF-AB52FF9BEF4D}"/>
              </a:ext>
            </a:extLst>
          </p:cNvPr>
          <p:cNvSpPr>
            <a:spLocks xmlns:a="http://schemas.openxmlformats.org/drawingml/2006/main" noGrp="1"/>
          </p:cNvSpPr>
          <p:nvPr/>
        </p:nvSpPr>
        <p:spPr>
          <a:xfrm xmlns:a="http://schemas.openxmlformats.org/drawingml/2006/main">
            <a:off x="4857750" y="5638800"/>
            <a:ext cx="6800850" cy="533400"/>
          </a:xfrm>
          <a:prstGeom xmlns:a="http://schemas.openxmlformats.org/drawingml/2006/main" prst="rect">
            <a:avLst/>
          </a:prstGeom>
          <a:solidFill xmlns:a="http://schemas.openxmlformats.org/drawingml/2006/main">
            <a:srgbClr val="EAF6FC"/>
          </a:solidFill>
          <a:ln xmlns:a="http://schemas.openxmlformats.org/drawingml/2006/main" w="0">
            <a:noFill/>
            <a:prstDash val="solid"/>
          </a:ln>
        </p:spPr>
      </p:sp>
      <p:sp>
        <p:nvSpPr>
          <p:cNvPr id="38" name="ai-guardrail-accent">
            <a:extLst xmlns:a="http://schemas.openxmlformats.org/drawingml/2006/main">
              <a:ext uri="{FF2B5EF4-FFF2-40B4-BE49-F238E27FC236}">
                <a16:creationId xmlns:a16="http://schemas.microsoft.com/office/drawing/2014/main" id="{F047D129-284B-4D52-AED2-33094BE572C0}"/>
              </a:ext>
            </a:extLst>
          </p:cNvPr>
          <p:cNvSpPr>
            <a:spLocks xmlns:a="http://schemas.openxmlformats.org/drawingml/2006/main" noGrp="1"/>
          </p:cNvSpPr>
          <p:nvPr/>
        </p:nvSpPr>
        <p:spPr>
          <a:xfrm xmlns:a="http://schemas.openxmlformats.org/drawingml/2006/main">
            <a:off x="4857750" y="5638800"/>
            <a:ext cx="76200" cy="5334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39" name="ai-guardrail-text">
            <a:extLst xmlns:a="http://schemas.openxmlformats.org/drawingml/2006/main">
              <a:ext uri="{FF2B5EF4-FFF2-40B4-BE49-F238E27FC236}">
                <a16:creationId xmlns:a16="http://schemas.microsoft.com/office/drawing/2014/main" id="{C9F87989-E4BC-44B5-9F37-F020E7EB4587}"/>
              </a:ext>
            </a:extLst>
          </p:cNvPr>
          <p:cNvSpPr>
            <a:spLocks xmlns:a="http://schemas.openxmlformats.org/drawingml/2006/main" noGrp="1"/>
          </p:cNvSpPr>
          <p:nvPr/>
        </p:nvSpPr>
        <p:spPr>
          <a:xfrm xmlns:a="http://schemas.openxmlformats.org/drawingml/2006/main">
            <a:off x="5124450" y="5762625"/>
            <a:ext cx="626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11111"/>
                </a:solidFill>
              </a:defRPr>
            </a:pPr>
            <a:r>
              <a:rPr sz="1200" b="1">
                <a:solidFill>
                  <a:srgbClr val="111111"/>
                </a:solidFill>
              </a:rPr>
              <a:t>An LLM is optional—not required today. If added later, use only Philips-approved AI services, product evidence and guardrails.</a:t>
            </a:r>
          </a:p>
        </p:txBody>
      </p:sp>
      <p:sp>
        <p:nvSpPr>
          <p:cNvPr id="40" name="footer-brand-2">
            <a:extLst xmlns:a="http://schemas.openxmlformats.org/drawingml/2006/main">
              <a:ext uri="{FF2B5EF4-FFF2-40B4-BE49-F238E27FC236}">
                <a16:creationId xmlns:a16="http://schemas.microsoft.com/office/drawing/2014/main" id="{1730366A-8A35-48D5-A26C-6F72905E8099}"/>
              </a:ext>
            </a:extLst>
          </p:cNvPr>
          <p:cNvSpPr>
            <a:spLocks xmlns:a="http://schemas.openxmlformats.org/drawingml/2006/main" noGrp="1"/>
          </p:cNvSpPr>
          <p:nvPr/>
        </p:nvSpPr>
        <p:spPr>
          <a:xfrm xmlns:a="http://schemas.openxmlformats.org/drawingml/2006/main">
            <a:off x="533400" y="64103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F6670"/>
                </a:solidFill>
              </a:defRPr>
            </a:pPr>
            <a:r>
              <a:rPr sz="825" b="1">
                <a:solidFill>
                  <a:srgbClr val="5F6670"/>
                </a:solidFill>
              </a:rPr>
              <a:t>IGT SYSTEMS  /  SALES TEXT ENGINE</a:t>
            </a:r>
          </a:p>
        </p:txBody>
      </p:sp>
      <p:sp>
        <p:nvSpPr>
          <p:cNvPr id="41" name="footer-number-2">
            <a:extLst xmlns:a="http://schemas.openxmlformats.org/drawingml/2006/main">
              <a:ext uri="{FF2B5EF4-FFF2-40B4-BE49-F238E27FC236}">
                <a16:creationId xmlns:a16="http://schemas.microsoft.com/office/drawing/2014/main" id="{2141E2E7-1744-4464-95A1-546E20100782}"/>
              </a:ext>
            </a:extLst>
          </p:cNvPr>
          <p:cNvSpPr>
            <a:spLocks xmlns:a="http://schemas.openxmlformats.org/drawingml/2006/main" noGrp="1"/>
          </p:cNvSpPr>
          <p:nvPr/>
        </p:nvSpPr>
        <p:spPr>
          <a:xfrm xmlns:a="http://schemas.openxmlformats.org/drawingml/2006/main">
            <a:off x="11239500" y="63817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5F6670"/>
                </a:solidFill>
              </a:defRPr>
            </a:pPr>
            <a:r>
              <a:rPr sz="825" b="1">
                <a:solidFill>
                  <a:srgbClr val="5F6670"/>
                </a:solidFill>
              </a:rPr>
              <a:t>02</a:t>
            </a:r>
          </a:p>
        </p:txBody>
      </p:sp>
    </p:spTree>
    <p:extLst>
      <p:ext uri="{BB962C8B-B14F-4D97-AF65-F5344CB8AC3E}">
        <p14:creationId xmlns:p14="http://schemas.microsoft.com/office/powerpoint/2010/main" val="76979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2026-08-17T09:24:21.8090000Z</dcterms:created>
  <dcterms:modified xsi:type="dcterms:W3CDTF">2026-08-17T09:24:21.8090000Z</dcterms:modified>
</coreProperties>
</file>